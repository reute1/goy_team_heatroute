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rts/colors1.xml" ContentType="application/vnd.ms-office.chartcolorstyle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style1.xml" ContentType="application/vnd.ms-office.chartstyl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65" r:id="rId2"/>
    <p:sldId id="366" r:id="rId3"/>
    <p:sldId id="362" r:id="rId4"/>
    <p:sldId id="364" r:id="rId5"/>
    <p:sldId id="375" r:id="rId6"/>
    <p:sldId id="267" r:id="rId7"/>
    <p:sldId id="373" r:id="rId8"/>
    <p:sldId id="372" r:id="rId9"/>
    <p:sldId id="369" r:id="rId10"/>
    <p:sldId id="376" r:id="rId11"/>
    <p:sldId id="371" r:id="rId12"/>
    <p:sldId id="378" r:id="rId13"/>
    <p:sldId id="374" r:id="rId14"/>
    <p:sldId id="377" r:id="rId15"/>
    <p:sldId id="264" r:id="rId16"/>
    <p:sldId id="270" r:id="rId17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267"/>
            <p14:sldId id="373"/>
            <p14:sldId id="372"/>
            <p14:sldId id="369"/>
            <p14:sldId id="376"/>
            <p14:sldId id="371"/>
            <p14:sldId id="378"/>
            <p14:sldId id="374"/>
            <p14:sldId id="377"/>
            <p14:sldId id="264"/>
            <p14:sldId id="270"/>
          </p14:sldIdLst>
        </p14:section>
      </p14:sectionLst>
    </p:ext>
    <p:ext uri="{EFAFB233-063F-42B5-8137-9DF3F51BA10A}">
      <p15:sldGuideLst xmlns:p15="http://schemas.microsoft.com/office/powerpoint/2012/main" xmlns="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5839"/>
  </p:normalViewPr>
  <p:slideViewPr>
    <p:cSldViewPr snapToGrid="0" showGuides="1">
      <p:cViewPr varScale="1">
        <p:scale>
          <a:sx n="45" d="100"/>
          <a:sy n="45" d="100"/>
        </p:scale>
        <p:origin x="-1498" y="-72"/>
      </p:cViewPr>
      <p:guideLst>
        <p:guide orient="horz" pos="2160"/>
        <p:guide pos="597"/>
        <p:guide pos="3591"/>
        <p:guide pos="5496"/>
        <p:guide pos="4112"/>
        <p:guide pos="3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Статистика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Pt>
            <c:idx val="4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6653-4ACF-9186-6A17D12A2E52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dirty="0"/>
                      <a:t>50%</a:t>
                    </a:r>
                  </a:p>
                </c:rich>
              </c:tx>
              <c:showPercent val="1"/>
              <c:extLst xmlns:c16r2="http://schemas.microsoft.com/office/drawing/2015/06/chart"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AC9-4320-A20C-3707168A0262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Percent val="1"/>
            <c:extLst xmlns:c16r2="http://schemas.microsoft.com/office/drawing/2015/06/chart"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Лист1!$A$2:$A$6</c:f>
              <c:strCache>
                <c:ptCount val="5"/>
                <c:pt idx="0">
                  <c:v>Граф видимости</c:v>
                </c:pt>
                <c:pt idx="1">
                  <c:v>Планировщик</c:v>
                </c:pt>
                <c:pt idx="2">
                  <c:v>Чтение и проекция</c:v>
                </c:pt>
                <c:pt idx="3">
                  <c:v>Модель ограничений</c:v>
                </c:pt>
                <c:pt idx="4">
                  <c:v>Запись GeoJSON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50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Percent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zero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pPr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pPr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xmlns="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xmlns="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xmlns="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xmlns="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xmlns="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xmlns="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xmlns="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xmlns="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xmlns="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xmlns="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xmlns="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xmlns="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xmlns="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xmlns="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xmlns="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xmlns="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xmlns="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xmlns="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xmlns="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xmlns="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xmlns="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xmlns="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xmlns="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xmlns="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xmlns="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xmlns="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xmlns="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xmlns="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xmlns="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xmlns="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xmlns="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xmlns="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xmlns="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xmlns="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xmlns="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xmlns="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xmlns="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xmlns="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xmlns="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xmlns="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xmlns="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xmlns="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xmlns="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xmlns="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xmlns="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xmlns="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xmlns="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xmlns="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xmlns="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xmlns="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xmlns="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xmlns="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xmlns="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xmlns="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xmlns="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xmlns="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xmlns="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xmlns="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xmlns="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xmlns="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xmlns="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xmlns="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xmlns="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xmlns="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xmlns="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xmlns="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xmlns="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xmlns="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xmlns="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xmlns="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xmlns="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xmlns="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xmlns="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xmlns="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xmlns="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xmlns="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xmlns="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xmlns="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xmlns="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xmlns="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xmlns="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xmlns="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xmlns="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xmlns="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xmlns="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  <p:txBody>
          <a:bodyPr/>
          <a:lstStyle/>
          <a:p>
            <a:endParaRPr lang="ru-RU"/>
          </a:p>
        </p:txBody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xmlns="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xmlns="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xmlns="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xmlns="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xmlns="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xmlns="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xmlns="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xmlns="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xmlns="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xmlns="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xmlns="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xmlns="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xmlns="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xmlns="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xmlns="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xmlns="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xmlns="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xmlns="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xmlns="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xmlns="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xmlns="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xmlns="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xmlns="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xmlns="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xmlns="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xmlns="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pPr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xmlns="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 err="1"/>
              <a:t>GOY_team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indent="268288"/>
            <a:r>
              <a:rPr lang="ru-RU" dirty="0"/>
              <a:t>Сервис моделирования трассировки тепловых сетей для технологического присоединения новых зданий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8066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8">
            <a:extLst>
              <a:ext uri="{FF2B5EF4-FFF2-40B4-BE49-F238E27FC236}">
                <a16:creationId xmlns:a16="http://schemas.microsoft.com/office/drawing/2014/main" xmlns="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7027062" y="1751454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xmlns="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243009" y="2846121"/>
            <a:ext cx="5020432" cy="330489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chemeClr val="tx1"/>
                </a:solidFill>
              </a:rPr>
              <a:t>Уникальность в том, что это детерминированный расчёт на чистом JDK без библиотек, который строит три разных варианта подключения, а не один, считает полный цикл от врезки до подбора диаметров, </a:t>
            </a:r>
            <a:r>
              <a:rPr lang="ru-RU" dirty="0" err="1">
                <a:solidFill>
                  <a:schemeClr val="tx1"/>
                </a:solidFill>
              </a:rPr>
              <a:t>самопроверяется</a:t>
            </a:r>
            <a:r>
              <a:rPr lang="ru-RU" dirty="0">
                <a:solidFill>
                  <a:schemeClr val="tx1"/>
                </a:solidFill>
              </a:rPr>
              <a:t> с фактическими ДУ и проверяется независимым валидатором. Файл целого города считается с одним гигабайтом памяти, а под конкурсный набор ничего не подогнано — все числа ТЗ в одном справочнике.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xmlns="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158503" y="136439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solidFill>
                  <a:schemeClr val="tx1"/>
                </a:solidFill>
              </a:rPr>
              <a:t>Капитан: </a:t>
            </a:r>
            <a:r>
              <a:rPr lang="ru-RU" sz="1600" dirty="0">
                <a:solidFill>
                  <a:schemeClr val="tx1"/>
                </a:solidFill>
              </a:rPr>
              <a:t>Зимин Матвей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solidFill>
                  <a:schemeClr val="tx1"/>
                </a:solidFill>
              </a:rPr>
              <a:t>Кол-во участников: 5</a:t>
            </a:r>
            <a:r>
              <a:rPr lang="ru-RU" sz="1600" dirty="0">
                <a:solidFill>
                  <a:schemeClr val="tx1"/>
                </a:solidFill>
              </a:rPr>
              <a:t>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solidFill>
                  <a:schemeClr val="tx1"/>
                </a:solidFill>
              </a:rPr>
              <a:t>Город и регион: Санкт-Петербург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xmlns="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158503" y="96617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xmlns="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74" y="-129388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КОМАНДА «</a:t>
            </a:r>
            <a:r>
              <a:rPr lang="ru-RU" sz="2400" dirty="0" err="1">
                <a:solidFill>
                  <a:schemeClr val="accent5"/>
                </a:solidFill>
                <a:latin typeface="+mn-lt"/>
              </a:rPr>
              <a:t>GOY_team</a:t>
            </a:r>
            <a:r>
              <a:rPr lang="ru-RU" sz="2400" dirty="0">
                <a:solidFill>
                  <a:schemeClr val="accent5"/>
                </a:solidFill>
                <a:latin typeface="+mn-lt"/>
              </a:rPr>
              <a:t>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97347" y="1743625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243009" y="229718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219374" y="93002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xmlns="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192932" y="2311455"/>
            <a:ext cx="4945564" cy="53466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xmlns="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077957"/>
            <a:ext cx="4945565" cy="407305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</a:rPr>
              <a:t>Сервис получает один </a:t>
            </a:r>
            <a:r>
              <a:rPr lang="ru-RU" dirty="0" err="1">
                <a:solidFill>
                  <a:schemeClr val="tx1"/>
                </a:solidFill>
              </a:rPr>
              <a:t>GeoJSON</a:t>
            </a:r>
            <a:r>
              <a:rPr lang="ru-RU" dirty="0">
                <a:solidFill>
                  <a:schemeClr val="tx1"/>
                </a:solidFill>
              </a:rPr>
              <a:t> и автоматически строит до трёх вариантов новой сети — совместное подключение, совместное с альтернативными врезками, раздельное. На выходе — </a:t>
            </a:r>
            <a:r>
              <a:rPr lang="ru-RU" dirty="0" err="1">
                <a:solidFill>
                  <a:schemeClr val="tx1"/>
                </a:solidFill>
              </a:rPr>
              <a:t>GeoJSON</a:t>
            </a:r>
            <a:r>
              <a:rPr lang="ru-RU" dirty="0">
                <a:solidFill>
                  <a:schemeClr val="tx1"/>
                </a:solidFill>
              </a:rPr>
              <a:t>: трубы с расходом, диаметром, длиной, способом прокладки и ценой, новые камеры, </a:t>
            </a:r>
            <a:r>
              <a:rPr lang="ru-RU" dirty="0" err="1">
                <a:solidFill>
                  <a:schemeClr val="tx1"/>
                </a:solidFill>
              </a:rPr>
              <a:t>техузлы</a:t>
            </a:r>
            <a:r>
              <a:rPr lang="ru-RU" dirty="0">
                <a:solidFill>
                  <a:schemeClr val="tx1"/>
                </a:solidFill>
              </a:rPr>
              <a:t> и сводка с проверками.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</a:rPr>
              <a:t>Внутри — детерминированный расчёт на Java 11: потоковый разбор, проекция в UTM 37N, граф видимости, жадная эвристика Прима для дерева Штейнера с локальным улучшением, подбор ДУ по расходу и предельной длине, самопроверка с фактическими ДУ. Результат проверяется независимым валидатором на Python</a:t>
            </a:r>
            <a:r>
              <a:rPr lang="ru-RU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xmlns="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977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xmlns="" id="{635392F3-78F4-5585-E25E-CDBEA7E9F10C}"/>
              </a:ext>
            </a:extLst>
          </p:cNvPr>
          <p:cNvSpPr/>
          <p:nvPr/>
        </p:nvSpPr>
        <p:spPr>
          <a:xfrm>
            <a:off x="2651394" y="2238160"/>
            <a:ext cx="2192713" cy="3402044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sz="2000" b="1" dirty="0"/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xmlns="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638417" y="3472346"/>
            <a:ext cx="2192713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@dsclique</a:t>
            </a:r>
          </a:p>
          <a:p>
            <a:pPr algn="ctr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Роль  в команде:</a:t>
            </a:r>
          </a:p>
          <a:p>
            <a:pPr marL="0" indent="0" algn="ctr" fontAlgn="base">
              <a:spcBef>
                <a:spcPts val="60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Бэкенд и инфраструктура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xmlns="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2844436"/>
            <a:ext cx="184457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b="1" dirty="0">
                <a:solidFill>
                  <a:schemeClr val="accent5"/>
                </a:solidFill>
              </a:rPr>
              <a:t>Данила  Дорошенко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xmlns="" id="{0F406257-4D6A-D88A-21D7-91882F262CF5}"/>
              </a:ext>
            </a:extLst>
          </p:cNvPr>
          <p:cNvSpPr/>
          <p:nvPr/>
        </p:nvSpPr>
        <p:spPr>
          <a:xfrm>
            <a:off x="4956712" y="2254469"/>
            <a:ext cx="2192713" cy="336942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sz="2000" b="1" dirty="0"/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xmlns="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4943735" y="3472346"/>
            <a:ext cx="2192713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@Tlaimm</a:t>
            </a:r>
          </a:p>
          <a:p>
            <a:pPr algn="ctr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Роль в команде:</a:t>
            </a:r>
          </a:p>
          <a:p>
            <a:pPr marL="0" indent="0" algn="ctr" fontAlgn="base">
              <a:spcBef>
                <a:spcPts val="60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Инженерные расчёты</a:t>
            </a:r>
          </a:p>
          <a:p>
            <a:pPr marL="0" indent="0" algn="ctr" fontAlgn="base">
              <a:spcBef>
                <a:spcPts val="60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xmlns="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2844436"/>
            <a:ext cx="184457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b="1" dirty="0">
                <a:solidFill>
                  <a:schemeClr val="accent5"/>
                </a:solidFill>
              </a:rPr>
              <a:t>Тимофей </a:t>
            </a:r>
            <a:r>
              <a:rPr lang="ru-RU" sz="2000" b="1" dirty="0" err="1">
                <a:solidFill>
                  <a:schemeClr val="accent5"/>
                </a:solidFill>
              </a:rPr>
              <a:t>Ладесов</a:t>
            </a:r>
            <a:endParaRPr lang="ru-RU" sz="2000" b="1" dirty="0">
              <a:solidFill>
                <a:schemeClr val="accent5"/>
              </a:solidFill>
            </a:endParaRP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xmlns="" id="{D1FBCE3B-1D71-DB46-9E48-C63F3ADD4968}"/>
              </a:ext>
            </a:extLst>
          </p:cNvPr>
          <p:cNvSpPr/>
          <p:nvPr/>
        </p:nvSpPr>
        <p:spPr>
          <a:xfrm>
            <a:off x="7262031" y="2254469"/>
            <a:ext cx="2192713" cy="336942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sz="2000" b="1" dirty="0"/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xmlns="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249054" y="3472346"/>
            <a:ext cx="2192713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@dhnls</a:t>
            </a:r>
          </a:p>
          <a:p>
            <a:pPr algn="ctr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Роль в команде:</a:t>
            </a:r>
          </a:p>
          <a:p>
            <a:pPr marL="0" indent="0" algn="ctr" fontAlgn="base">
              <a:spcBef>
                <a:spcPts val="600"/>
              </a:spcBef>
              <a:buNone/>
            </a:pPr>
            <a:r>
              <a:rPr lang="ru-RU" sz="1800" dirty="0">
                <a:solidFill>
                  <a:schemeClr val="tx1"/>
                </a:solidFill>
              </a:rPr>
              <a:t>Входные и выходные данные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xmlns="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2844436"/>
            <a:ext cx="184457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accent5"/>
                </a:solidFill>
              </a:rPr>
              <a:t>Дмитрий </a:t>
            </a:r>
            <a:r>
              <a:rPr lang="ru-RU" sz="2000" b="1" dirty="0" err="1">
                <a:solidFill>
                  <a:schemeClr val="accent5"/>
                </a:solidFill>
              </a:rPr>
              <a:t>Шкель</a:t>
            </a:r>
            <a:endParaRPr lang="ru-RU" sz="2000" b="1" dirty="0">
              <a:solidFill>
                <a:schemeClr val="accent5"/>
              </a:solidFill>
            </a:endParaRP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xmlns="" id="{603D078F-23CD-0C3A-EF6E-9FA3818E22BC}"/>
              </a:ext>
            </a:extLst>
          </p:cNvPr>
          <p:cNvSpPr/>
          <p:nvPr/>
        </p:nvSpPr>
        <p:spPr>
          <a:xfrm>
            <a:off x="9567349" y="2254469"/>
            <a:ext cx="2192713" cy="336942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sz="2000" b="1" dirty="0"/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xmlns="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554372" y="3472346"/>
            <a:ext cx="2192713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@paulchernov22</a:t>
            </a:r>
          </a:p>
          <a:p>
            <a:pPr algn="ctr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Роль в команде:</a:t>
            </a:r>
          </a:p>
          <a:p>
            <a:pPr marL="0" indent="0" algn="ctr" fontAlgn="base">
              <a:spcBef>
                <a:spcPts val="600"/>
              </a:spcBef>
              <a:buNone/>
            </a:pPr>
            <a:r>
              <a:rPr lang="ru-RU" sz="1800" dirty="0">
                <a:solidFill>
                  <a:schemeClr val="tx1"/>
                </a:solidFill>
              </a:rPr>
              <a:t>Верификация и инструменты и составление документации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xmlns="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2844436"/>
            <a:ext cx="184457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b="1" dirty="0">
                <a:solidFill>
                  <a:schemeClr val="accent5"/>
                </a:solidFill>
              </a:rPr>
              <a:t>Павел Ботнарь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xmlns="" id="{FC0035EA-559C-020F-D4A8-B4146A26E8E5}"/>
              </a:ext>
            </a:extLst>
          </p:cNvPr>
          <p:cNvSpPr/>
          <p:nvPr/>
        </p:nvSpPr>
        <p:spPr>
          <a:xfrm>
            <a:off x="346076" y="2254469"/>
            <a:ext cx="2192713" cy="336942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sz="2000" b="1" dirty="0"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xmlns="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xmlns="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780372" cy="37002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5"/>
                </a:solidFill>
                <a:latin typeface="+mn-lt"/>
              </a:rPr>
              <a:t>КОМАНДА «</a:t>
            </a:r>
            <a:r>
              <a:rPr lang="ru-RU" sz="2000" dirty="0" err="1">
                <a:solidFill>
                  <a:schemeClr val="accent5"/>
                </a:solidFill>
              </a:rPr>
              <a:t>GOY_team</a:t>
            </a:r>
            <a:r>
              <a:rPr lang="ru-RU" dirty="0">
                <a:solidFill>
                  <a:schemeClr val="accent5"/>
                </a:solidFill>
                <a:latin typeface="+mn-lt"/>
              </a:rPr>
              <a:t>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099" y="3429000"/>
            <a:ext cx="2192713" cy="1624612"/>
          </a:xfrm>
        </p:spPr>
        <p:txBody>
          <a:bodyPr>
            <a:normAutofit/>
          </a:bodyPr>
          <a:lstStyle/>
          <a:p>
            <a:pPr marL="0" indent="0" algn="ctr" fontAlgn="base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@LCN_work</a:t>
            </a:r>
          </a:p>
          <a:p>
            <a:pPr algn="ctr" fontAlgn="base">
              <a:spcBef>
                <a:spcPts val="600"/>
              </a:spcBef>
            </a:pPr>
            <a:r>
              <a:rPr lang="ru-RU" sz="1600" dirty="0">
                <a:solidFill>
                  <a:schemeClr val="tx1"/>
                </a:solidFill>
              </a:rPr>
              <a:t>Роль  в команде:</a:t>
            </a:r>
          </a:p>
          <a:p>
            <a:pPr marL="0" indent="0" algn="ctr" fontAlgn="base">
              <a:spcBef>
                <a:spcPts val="60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Ядро алгоритма (граф + маршрутизация)</a:t>
            </a:r>
          </a:p>
          <a:p>
            <a:pPr marL="0" indent="0" algn="ctr"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xmlns="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2801090"/>
            <a:ext cx="184457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b="1" dirty="0">
                <a:solidFill>
                  <a:schemeClr val="accent5"/>
                </a:solidFill>
              </a:rPr>
              <a:t>Матвей Зимин</a:t>
            </a:r>
          </a:p>
        </p:txBody>
      </p:sp>
    </p:spTree>
    <p:extLst>
      <p:ext uri="{BB962C8B-B14F-4D97-AF65-F5344CB8AC3E}">
        <p14:creationId xmlns:p14="http://schemas.microsoft.com/office/powerpoint/2010/main" xmlns="" val="92214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xmlns="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xmlns="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z="1400" smtClean="0">
                <a:solidFill>
                  <a:schemeClr val="accent5"/>
                </a:solidFill>
              </a:rPr>
              <a:pPr/>
              <a:t>4</a:t>
            </a:fld>
            <a:endParaRPr lang="ru-RU" sz="1400" dirty="0">
              <a:solidFill>
                <a:schemeClr val="accent5"/>
              </a:solidFill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xmlns="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87990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</a:rPr>
              <a:t>Мы познакомились и объединились в процессе совместного обучения. Решили попробовать свои силы в хакатоне, применить знания на практике и вместе создать полноценное решение реальной инженерной задачи. 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xmlns="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33641"/>
            <a:ext cx="3596960" cy="3999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xmlns="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1323431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</a:rPr>
              <a:t>Основные сложности — построение маршрутов с учётом большого количества пространственных ограничений, подбор диаметров по расходу и длине, а также работа с большими входными файлами. Мы разделили систему на независимые компоненты: модель ограничений, граф видимости, планировщик, расчёт параметров сети и независимую проверку результата.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xmlns="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7" y="4571473"/>
            <a:ext cx="10879899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sz="1800" b="1" dirty="0">
                <a:solidFill>
                  <a:schemeClr val="accent5"/>
                </a:solidFill>
              </a:rPr>
              <a:t>С какими основными сложностями или вызовами 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xmlns="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204241"/>
            <a:ext cx="11412776" cy="116369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</a:rPr>
              <a:t>Задача сочетает </a:t>
            </a:r>
            <a:r>
              <a:rPr lang="ru-RU" sz="1800" dirty="0" err="1">
                <a:solidFill>
                  <a:schemeClr val="tx1"/>
                </a:solidFill>
              </a:rPr>
              <a:t>геоинформацию</a:t>
            </a:r>
            <a:r>
              <a:rPr lang="ru-RU" sz="1800" dirty="0">
                <a:solidFill>
                  <a:schemeClr val="tx1"/>
                </a:solidFill>
              </a:rPr>
              <a:t>, инженерные расчёты и алгоритмическую оптимизацию. Нам было интересно реализовать полный цикл: от входного </a:t>
            </a:r>
            <a:r>
              <a:rPr lang="ru-RU" sz="1800" dirty="0" err="1">
                <a:solidFill>
                  <a:schemeClr val="tx1"/>
                </a:solidFill>
              </a:rPr>
              <a:t>GeoJSON</a:t>
            </a:r>
            <a:r>
              <a:rPr lang="ru-RU" sz="1800" dirty="0">
                <a:solidFill>
                  <a:schemeClr val="tx1"/>
                </a:solidFill>
              </a:rPr>
              <a:t> и анализа ограничений до построения нескольких вариантов трасс, подбора диаметров труб и формирования готового результата.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xmlns="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6" y="2859165"/>
            <a:ext cx="9829593" cy="5698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chemeClr val="accent5"/>
                </a:solidFill>
              </a:rPr>
              <a:t>Почему вы выбрали именно эту задачу 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xmlns="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1800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xmlns="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sz="1800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xmlns="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sz="1800" b="1" dirty="0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3" name="Заголовок 6">
            <a:extLst>
              <a:ext uri="{FF2B5EF4-FFF2-40B4-BE49-F238E27FC236}">
                <a16:creationId xmlns:a16="http://schemas.microsoft.com/office/drawing/2014/main" xmlns="" id="{617C95FD-9D6C-14E7-87E3-0F6B8313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449263"/>
            <a:ext cx="3622566" cy="420822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5"/>
                </a:solidFill>
                <a:latin typeface="+mn-lt"/>
              </a:rPr>
              <a:t>КОМАНДА «</a:t>
            </a:r>
            <a:r>
              <a:rPr lang="ru-RU" sz="2000" dirty="0" err="1">
                <a:solidFill>
                  <a:schemeClr val="accent5"/>
                </a:solidFill>
              </a:rPr>
              <a:t>GOY_team</a:t>
            </a:r>
            <a:r>
              <a:rPr lang="ru-RU" dirty="0">
                <a:solidFill>
                  <a:schemeClr val="accent5"/>
                </a:solidFill>
                <a:latin typeface="+mn-lt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xmlns="" val="203551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xmlns="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xmlns="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xmlns="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dirty="0">
                <a:solidFill>
                  <a:schemeClr val="tx1"/>
                </a:solidFill>
              </a:rPr>
              <a:t>Наше решение  -  программный комплекс для автоматизированного проектирования трасс подключения новых объектов к существующей тепловой сети.</a:t>
            </a:r>
          </a:p>
          <a:p>
            <a:pPr lvl="0">
              <a:lnSpc>
                <a:spcPct val="100000"/>
              </a:lnSpc>
            </a:pPr>
            <a:r>
              <a:rPr lang="ru-RU" sz="1400" dirty="0">
                <a:solidFill>
                  <a:schemeClr val="tx1"/>
                </a:solidFill>
              </a:rPr>
              <a:t>входные данные — </a:t>
            </a:r>
            <a:r>
              <a:rPr lang="ru-RU" sz="1400" b="1" dirty="0" err="1">
                <a:solidFill>
                  <a:schemeClr val="tx1"/>
                </a:solidFill>
              </a:rPr>
              <a:t>GeoJSON</a:t>
            </a:r>
            <a:r>
              <a:rPr lang="ru-RU" sz="1400" dirty="0">
                <a:solidFill>
                  <a:schemeClr val="tx1"/>
                </a:solidFill>
              </a:rPr>
              <a:t>; </a:t>
            </a:r>
          </a:p>
          <a:p>
            <a:pPr lvl="0">
              <a:lnSpc>
                <a:spcPct val="100000"/>
              </a:lnSpc>
            </a:pPr>
            <a:r>
              <a:rPr lang="ru-RU" sz="1400" dirty="0">
                <a:solidFill>
                  <a:schemeClr val="tx1"/>
                </a:solidFill>
              </a:rPr>
              <a:t>пространственные ограничения и существующая сеть учитываются при построении маршрута; </a:t>
            </a:r>
          </a:p>
          <a:p>
            <a:pPr lvl="0">
              <a:lnSpc>
                <a:spcPct val="100000"/>
              </a:lnSpc>
            </a:pPr>
            <a:r>
              <a:rPr lang="ru-RU" sz="1400" dirty="0">
                <a:solidFill>
                  <a:schemeClr val="tx1"/>
                </a:solidFill>
              </a:rPr>
              <a:t>используется </a:t>
            </a:r>
            <a:r>
              <a:rPr lang="ru-RU" sz="1400" b="1" dirty="0">
                <a:solidFill>
                  <a:schemeClr val="tx1"/>
                </a:solidFill>
              </a:rPr>
              <a:t>граф видимости</a:t>
            </a:r>
            <a:r>
              <a:rPr lang="ru-RU" sz="1400" dirty="0">
                <a:solidFill>
                  <a:schemeClr val="tx1"/>
                </a:solidFill>
              </a:rPr>
              <a:t> и алгоритм маршрутизации на основе эвристики Прима для дерева Штейнера; </a:t>
            </a:r>
          </a:p>
          <a:p>
            <a:pPr lvl="0">
              <a:lnSpc>
                <a:spcPct val="100000"/>
              </a:lnSpc>
            </a:pPr>
            <a:r>
              <a:rPr lang="ru-RU" sz="1400" dirty="0">
                <a:solidFill>
                  <a:schemeClr val="tx1"/>
                </a:solidFill>
              </a:rPr>
              <a:t>автоматически подбираются </a:t>
            </a:r>
            <a:r>
              <a:rPr lang="ru-RU" sz="1400" b="1" dirty="0">
                <a:solidFill>
                  <a:schemeClr val="tx1"/>
                </a:solidFill>
              </a:rPr>
              <a:t>диаметры труб по расходу и ограничениям длины</a:t>
            </a:r>
            <a:r>
              <a:rPr lang="ru-RU" sz="1400" dirty="0">
                <a:solidFill>
                  <a:schemeClr val="tx1"/>
                </a:solidFill>
              </a:rPr>
              <a:t>; </a:t>
            </a:r>
          </a:p>
          <a:p>
            <a:pPr lvl="0">
              <a:lnSpc>
                <a:spcPct val="100000"/>
              </a:lnSpc>
            </a:pPr>
            <a:r>
              <a:rPr lang="ru-RU" sz="1400" dirty="0">
                <a:solidFill>
                  <a:schemeClr val="tx1"/>
                </a:solidFill>
              </a:rPr>
              <a:t>формируется </a:t>
            </a:r>
            <a:r>
              <a:rPr lang="ru-RU" sz="1400" b="1" dirty="0">
                <a:solidFill>
                  <a:schemeClr val="tx1"/>
                </a:solidFill>
              </a:rPr>
              <a:t>до трёх вариантов подключения</a:t>
            </a:r>
            <a:r>
              <a:rPr lang="ru-RU" sz="1400" dirty="0">
                <a:solidFill>
                  <a:schemeClr val="tx1"/>
                </a:solidFill>
              </a:rPr>
              <a:t>; </a:t>
            </a:r>
          </a:p>
          <a:p>
            <a:pPr lvl="0">
              <a:lnSpc>
                <a:spcPct val="100000"/>
              </a:lnSpc>
            </a:pPr>
            <a:r>
              <a:rPr lang="ru-RU" sz="1400" dirty="0">
                <a:solidFill>
                  <a:schemeClr val="tx1"/>
                </a:solidFill>
              </a:rPr>
              <a:t>каждый вариант проходит проверки и формируется в выходной </a:t>
            </a:r>
            <a:r>
              <a:rPr lang="ru-RU" sz="1400" b="1" dirty="0" err="1">
                <a:solidFill>
                  <a:schemeClr val="tx1"/>
                </a:solidFill>
              </a:rPr>
              <a:t>GeoJSON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252753" y="1529438"/>
            <a:ext cx="5440313" cy="387644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/>
                </a:solidFill>
              </a:rPr>
              <a:t>Идеи по дальнейшему применению, развитию и внедрению проекта:</a:t>
            </a:r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tx1"/>
                </a:solidFill>
              </a:rPr>
              <a:t>Интеграция с ГИС</a:t>
            </a:r>
            <a:r>
              <a:rPr lang="ru-RU" sz="1400" dirty="0">
                <a:solidFill>
                  <a:schemeClr val="tx1"/>
                </a:solidFill>
              </a:rPr>
              <a:t> — визуализация рассчитанных трасс и ограничений непосредственно на карте. </a:t>
            </a:r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tx1"/>
                </a:solidFill>
              </a:rPr>
              <a:t>Автоматическое сравнение вариантов</a:t>
            </a:r>
            <a:r>
              <a:rPr lang="ru-RU" sz="1400" dirty="0">
                <a:solidFill>
                  <a:schemeClr val="tx1"/>
                </a:solidFill>
              </a:rPr>
              <a:t> — анализ стоимости, длины и количества технических узлов. </a:t>
            </a:r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tx1"/>
                </a:solidFill>
              </a:rPr>
              <a:t>Расширение инженерных расчётов</a:t>
            </a:r>
            <a:r>
              <a:rPr lang="ru-RU" sz="1400" dirty="0">
                <a:solidFill>
                  <a:schemeClr val="tx1"/>
                </a:solidFill>
              </a:rPr>
              <a:t> — развитие проверок и учёт дополнительных параметров тепловой сети. </a:t>
            </a:r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tx1"/>
                </a:solidFill>
              </a:rPr>
              <a:t>Интеграция с существующими системами проектирования</a:t>
            </a:r>
            <a:r>
              <a:rPr lang="ru-RU" sz="1400" dirty="0">
                <a:solidFill>
                  <a:schemeClr val="tx1"/>
                </a:solidFill>
              </a:rPr>
              <a:t> — передача входных данных и результатов между </a:t>
            </a:r>
            <a:r>
              <a:rPr lang="ru-RU" sz="1400" dirty="0" err="1">
                <a:solidFill>
                  <a:schemeClr val="tx1"/>
                </a:solidFill>
              </a:rPr>
              <a:t>HeatRoute</a:t>
            </a:r>
            <a:r>
              <a:rPr lang="ru-RU" sz="1400" dirty="0">
                <a:solidFill>
                  <a:schemeClr val="tx1"/>
                </a:solidFill>
              </a:rPr>
              <a:t> и инженерными системами. </a:t>
            </a:r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tx1"/>
                </a:solidFill>
              </a:rPr>
              <a:t>Масштабирование сервиса</a:t>
            </a:r>
            <a:r>
              <a:rPr lang="ru-RU" sz="1400" dirty="0">
                <a:solidFill>
                  <a:schemeClr val="tx1"/>
                </a:solidFill>
              </a:rPr>
              <a:t> — обработка больших наборов геоданных и запуск нескольких расчётов параллельно. </a:t>
            </a:r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tx1"/>
                </a:solidFill>
              </a:rPr>
              <a:t>Развитие диагностики</a:t>
            </a:r>
            <a:r>
              <a:rPr lang="ru-RU" sz="1400" dirty="0">
                <a:solidFill>
                  <a:schemeClr val="tx1"/>
                </a:solidFill>
              </a:rPr>
              <a:t> — более подробные объяснения причин невозможности подключения и результатов проверок.</a:t>
            </a:r>
          </a:p>
          <a:p>
            <a:pPr marL="0" indent="0"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xmlns="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23676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877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xmlns="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xmlns="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xmlns="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lang="ru-RU" sz="2000" dirty="0">
                <a:solidFill>
                  <a:schemeClr val="accent5"/>
                </a:solidFill>
              </a:rPr>
              <a:t>Ядро</a:t>
            </a:r>
            <a:endParaRPr lang="ru-RU" sz="2000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6480" y="1814077"/>
            <a:ext cx="2836197" cy="112068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детерминированный расчёт, три стратегии, валидация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59011" y="1458075"/>
            <a:ext cx="3749457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lang="ru-RU" sz="2000" dirty="0">
                <a:solidFill>
                  <a:schemeClr val="accent5"/>
                </a:solidFill>
              </a:rPr>
              <a:t>Независимый валидатор</a:t>
            </a:r>
            <a:endParaRPr lang="ru-RU" sz="2000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559011" y="1814077"/>
            <a:ext cx="3749457" cy="1120685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проверка результата на Python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731756" y="1458075"/>
            <a:ext cx="4048000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lang="ru-RU" sz="2000" dirty="0">
                <a:solidFill>
                  <a:schemeClr val="accent5"/>
                </a:solidFill>
              </a:rPr>
              <a:t>Промышленное внедрение</a:t>
            </a:r>
            <a:endParaRPr lang="ru-RU" sz="2000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567684" y="1814077"/>
            <a:ext cx="4544957" cy="112068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chemeClr val="tx1"/>
                </a:solidFill>
              </a:rPr>
              <a:t>интеграция с системами проектирования, масштабирование на несколько расчётов параллельно, расширение инженерных проверок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lang="ru-RU" sz="2000" dirty="0">
                <a:solidFill>
                  <a:schemeClr val="accent5"/>
                </a:solidFill>
              </a:rPr>
              <a:t>Сервис</a:t>
            </a:r>
            <a:r>
              <a:rPr lang="ru-RU" sz="2000" b="0" dirty="0">
                <a:solidFill>
                  <a:schemeClr val="accent5"/>
                </a:solidFill>
              </a:rPr>
              <a:t> 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lang="ru-RU" sz="1600" dirty="0">
                <a:solidFill>
                  <a:schemeClr val="tx1"/>
                </a:solidFill>
              </a:rPr>
              <a:t>REST, очередь задач, </a:t>
            </a:r>
            <a:r>
              <a:rPr lang="ru-RU" sz="1600" dirty="0" err="1">
                <a:solidFill>
                  <a:schemeClr val="tx1"/>
                </a:solidFill>
              </a:rPr>
              <a:t>PostgreSQL</a:t>
            </a:r>
            <a:r>
              <a:rPr lang="ru-RU" sz="1600" dirty="0">
                <a:solidFill>
                  <a:schemeClr val="tx1"/>
                </a:solidFill>
              </a:rPr>
              <a:t>, хранение файлов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814512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lang="ru-RU" sz="2000" dirty="0">
                <a:solidFill>
                  <a:schemeClr val="accent5"/>
                </a:solidFill>
              </a:rPr>
              <a:t>Интеграция с ГИС</a:t>
            </a:r>
            <a:endParaRPr lang="ru-RU" sz="2000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814512" cy="1120685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визуализация трасс и ограничений на карте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xmlns="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xmlns="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xmlns="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xmlns="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xmlns="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xmlns="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xmlns="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xmlns="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xmlns="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xmlns="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xmlns="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xmlns="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xmlns="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xmlns="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xmlns="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dirty="0"/>
              <a:t>Состав проекта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xmlns="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xmlns="" id="{21820900-0645-FD25-E909-18D394EFF3AF}"/>
              </a:ext>
            </a:extLst>
          </p:cNvPr>
          <p:cNvSpPr/>
          <p:nvPr/>
        </p:nvSpPr>
        <p:spPr>
          <a:xfrm>
            <a:off x="3299795" y="1370651"/>
            <a:ext cx="4209765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xmlns="" id="{996865AC-684A-E392-11F5-A3160D858242}"/>
              </a:ext>
            </a:extLst>
          </p:cNvPr>
          <p:cNvSpPr/>
          <p:nvPr/>
        </p:nvSpPr>
        <p:spPr>
          <a:xfrm>
            <a:off x="7567684" y="1370651"/>
            <a:ext cx="454495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xmlns="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xmlns="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3160040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xmlns="" val="219459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xmlns="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 lang="ru-RU" sz="2000" dirty="0">
                <a:solidFill>
                  <a:schemeClr val="tx1"/>
                </a:solidFill>
              </a:rPr>
              <a:t>Архитектура программного комплекса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dirty="0">
                <a:solidFill>
                  <a:schemeClr val="tx1"/>
                </a:solidFill>
              </a:rPr>
              <a:t>Комплекс работает как последовательный конвейер: снаружи через REST на Spring Boot загружается </a:t>
            </a:r>
            <a:r>
              <a:rPr lang="ru-RU" sz="1600" dirty="0" err="1">
                <a:solidFill>
                  <a:schemeClr val="tx1"/>
                </a:solidFill>
              </a:rPr>
              <a:t>GeoJSON</a:t>
            </a:r>
            <a:r>
              <a:rPr lang="ru-RU" sz="1600" dirty="0">
                <a:solidFill>
                  <a:schemeClr val="tx1"/>
                </a:solidFill>
              </a:rPr>
              <a:t>, </a:t>
            </a:r>
            <a:r>
              <a:rPr lang="ru-RU" sz="1600" dirty="0" err="1">
                <a:solidFill>
                  <a:schemeClr val="tx1"/>
                </a:solidFill>
              </a:rPr>
              <a:t>JobService</a:t>
            </a:r>
            <a:r>
              <a:rPr lang="ru-RU" sz="1600" dirty="0">
                <a:solidFill>
                  <a:schemeClr val="tx1"/>
                </a:solidFill>
              </a:rPr>
              <a:t> сохраняет его на диск, ставит задачу в очередь и ведёт статусы в базе. Дальше запускается независимое ядро </a:t>
            </a:r>
            <a:r>
              <a:rPr lang="ru-RU" sz="1600" dirty="0" err="1">
                <a:solidFill>
                  <a:schemeClr val="tx1"/>
                </a:solidFill>
              </a:rPr>
              <a:t>HeatRouteEngine</a:t>
            </a:r>
            <a:r>
              <a:rPr lang="ru-RU" sz="1600" dirty="0">
                <a:solidFill>
                  <a:schemeClr val="tx1"/>
                </a:solidFill>
              </a:rPr>
              <a:t>, которое </a:t>
            </a:r>
            <a:r>
              <a:rPr lang="ru-RU" sz="1600" dirty="0" err="1">
                <a:solidFill>
                  <a:schemeClr val="tx1"/>
                </a:solidFill>
              </a:rPr>
              <a:t>потоково</a:t>
            </a:r>
            <a:r>
              <a:rPr lang="ru-RU" sz="1600" dirty="0">
                <a:solidFill>
                  <a:schemeClr val="tx1"/>
                </a:solidFill>
              </a:rPr>
              <a:t> читает файл, переводит координаты в метры и по области вокруг точек подключения ограничивает зону поиска. Затем строится модель ограничений — запреты, </a:t>
            </a:r>
            <a:r>
              <a:rPr lang="ru-RU" sz="1600" dirty="0" err="1">
                <a:solidFill>
                  <a:schemeClr val="tx1"/>
                </a:solidFill>
              </a:rPr>
              <a:t>спецпроходы</a:t>
            </a:r>
            <a:r>
              <a:rPr lang="ru-RU" sz="1600" dirty="0">
                <a:solidFill>
                  <a:schemeClr val="tx1"/>
                </a:solidFill>
              </a:rPr>
              <a:t>, новая сеть — и на её основе граф видимости, по которому планировщик жадным алгоритмом собирает варианты трасс, подбирает диаметры, проверяет правила и ранжирует варианты. Готовый результат записывается обратно в </a:t>
            </a:r>
            <a:r>
              <a:rPr lang="ru-RU" sz="1600" dirty="0" err="1">
                <a:solidFill>
                  <a:schemeClr val="tx1"/>
                </a:solidFill>
              </a:rPr>
              <a:t>GeoJSON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dirty="0"/>
              <a:t>и отдаётся клиенту через тот же REST.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4A8C8EF-8B24-4E99-2F58-20E09CCB6D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03021" y="816552"/>
            <a:ext cx="1772307" cy="578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0171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xmlns="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>
            <a:normAutofit/>
          </a:bodyPr>
          <a:lstStyle/>
          <a:p>
            <a:r>
              <a:rPr lang="ru-RU" sz="1800" dirty="0" err="1">
                <a:solidFill>
                  <a:schemeClr val="tx1"/>
                </a:solidFill>
              </a:rPr>
              <a:t>InputData</a:t>
            </a:r>
            <a:r>
              <a:rPr lang="ru-RU" sz="1800" dirty="0">
                <a:solidFill>
                  <a:schemeClr val="tx1"/>
                </a:solidFill>
              </a:rPr>
              <a:t>
Источники и точки подключения с ID и координатами
Существующая сеть: участки, DN и координаты
Камеры: координаты и текущая загрузка присоединениями
Цели: расход, координаты и индекс объекта
Ограничения: геометрия + тип + правило </a:t>
            </a:r>
            <a:r>
              <a:rPr lang="ru-RU" sz="1800" dirty="0" err="1">
                <a:solidFill>
                  <a:schemeClr val="tx1"/>
                </a:solidFill>
              </a:rPr>
              <a:t>RuleBook</a:t>
            </a:r>
            <a:r>
              <a:rPr lang="ru-RU" sz="1800" dirty="0">
                <a:solidFill>
                  <a:schemeClr val="tx1"/>
                </a:solidFill>
              </a:rPr>
              <a:t>
Диагностика входа: </a:t>
            </a:r>
            <a:r>
              <a:rPr lang="ru-RU" sz="1800" dirty="0" err="1">
                <a:solidFill>
                  <a:schemeClr val="tx1"/>
                </a:solidFill>
              </a:rPr>
              <a:t>warnings</a:t>
            </a:r>
            <a:r>
              <a:rPr lang="ru-RU" sz="1800" dirty="0">
                <a:solidFill>
                  <a:schemeClr val="tx1"/>
                </a:solidFill>
              </a:rPr>
              <a:t>, </a:t>
            </a:r>
            <a:r>
              <a:rPr lang="ru-RU" sz="1800" dirty="0" err="1">
                <a:solidFill>
                  <a:schemeClr val="tx1"/>
                </a:solidFill>
              </a:rPr>
              <a:t>featureCount</a:t>
            </a:r>
            <a:r>
              <a:rPr lang="ru-RU" sz="1800" dirty="0">
                <a:solidFill>
                  <a:schemeClr val="tx1"/>
                </a:solidFill>
              </a:rPr>
              <a:t>, </a:t>
            </a:r>
            <a:r>
              <a:rPr lang="ru-RU" sz="1800" dirty="0" err="1">
                <a:solidFill>
                  <a:schemeClr val="tx1"/>
                </a:solidFill>
              </a:rPr>
              <a:t>skippedOutsideArea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9087EB80-3472-B993-2D4E-E473EDB0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14338"/>
            <a:ext cx="5994400" cy="552450"/>
          </a:xfrm>
        </p:spPr>
        <p:txBody>
          <a:bodyPr/>
          <a:lstStyle/>
          <a:p>
            <a:r>
              <a:rPr lang="ru-RU" sz="2400" dirty="0">
                <a:solidFill>
                  <a:schemeClr val="bg1"/>
                </a:solidFill>
              </a:rPr>
              <a:t>Входные данные и ограничения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2040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xmlns="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xmlns="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47" y="2470013"/>
            <a:ext cx="5574868" cy="4937652"/>
          </a:xfrm>
        </p:spPr>
        <p:txBody>
          <a:bodyPr/>
          <a:lstStyle/>
          <a:p>
            <a:r>
              <a:rPr lang="en-US" sz="1800" dirty="0" err="1">
                <a:solidFill>
                  <a:schemeClr val="tx1"/>
                </a:solidFill>
              </a:rPr>
              <a:t>GeoJSON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dirty="0" err="1">
                <a:solidFill>
                  <a:schemeClr val="tx1"/>
                </a:solidFill>
              </a:rPr>
              <a:t>InputReader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ru-RU" sz="1800" dirty="0">
                <a:solidFill>
                  <a:schemeClr val="tx1"/>
                </a:solidFill>
              </a:rPr>
              <a:t>разбор и нормализация данных → </a:t>
            </a:r>
            <a:r>
              <a:rPr lang="en-US" sz="1800" dirty="0">
                <a:solidFill>
                  <a:schemeClr val="tx1"/>
                </a:solidFill>
              </a:rPr>
              <a:t>UTM 37N
→ </a:t>
            </a:r>
            <a:r>
              <a:rPr lang="en-US" sz="1800" dirty="0" err="1">
                <a:solidFill>
                  <a:schemeClr val="tx1"/>
                </a:solidFill>
              </a:rPr>
              <a:t>SearchArea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ru-RU" sz="1800" dirty="0">
                <a:solidFill>
                  <a:schemeClr val="tx1"/>
                </a:solidFill>
              </a:rPr>
              <a:t>ограничение области поиска → </a:t>
            </a:r>
            <a:r>
              <a:rPr lang="en-US" sz="1800" dirty="0">
                <a:solidFill>
                  <a:schemeClr val="tx1"/>
                </a:solidFill>
              </a:rPr>
              <a:t>Env + </a:t>
            </a:r>
            <a:r>
              <a:rPr lang="en-US" sz="1800" dirty="0" err="1">
                <a:solidFill>
                  <a:schemeClr val="tx1"/>
                </a:solidFill>
              </a:rPr>
              <a:t>SegGrid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ru-RU" sz="1800" dirty="0">
                <a:solidFill>
                  <a:schemeClr val="tx1"/>
                </a:solidFill>
              </a:rPr>
              <a:t>пространственная модель
→ </a:t>
            </a:r>
            <a:r>
              <a:rPr lang="en-US" sz="1800" dirty="0" err="1">
                <a:solidFill>
                  <a:schemeClr val="tx1"/>
                </a:solidFill>
              </a:rPr>
              <a:t>VisGraph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ru-RU" sz="1800" dirty="0">
                <a:solidFill>
                  <a:schemeClr val="tx1"/>
                </a:solidFill>
              </a:rPr>
              <a:t>граф допустимых прямых участков → </a:t>
            </a:r>
            <a:r>
              <a:rPr lang="en-US" sz="1800" dirty="0">
                <a:solidFill>
                  <a:schemeClr val="tx1"/>
                </a:solidFill>
              </a:rPr>
              <a:t>Planner: </a:t>
            </a:r>
            <a:r>
              <a:rPr lang="ru-RU" sz="1800" dirty="0">
                <a:solidFill>
                  <a:schemeClr val="tx1"/>
                </a:solidFill>
              </a:rPr>
              <a:t>построение леса и вариантов
→ подбор </a:t>
            </a:r>
            <a:r>
              <a:rPr lang="en-US" sz="1800" dirty="0">
                <a:solidFill>
                  <a:schemeClr val="tx1"/>
                </a:solidFill>
              </a:rPr>
              <a:t>DN, </a:t>
            </a:r>
            <a:r>
              <a:rPr lang="ru-RU" sz="1800" dirty="0">
                <a:solidFill>
                  <a:schemeClr val="tx1"/>
                </a:solidFill>
              </a:rPr>
              <a:t>камер и врезок → проверки </a:t>
            </a:r>
            <a:r>
              <a:rPr lang="en-US" sz="1800" dirty="0" err="1">
                <a:solidFill>
                  <a:schemeClr val="tx1"/>
                </a:solidFill>
              </a:rPr>
              <a:t>PlanResult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dirty="0" err="1">
                <a:solidFill>
                  <a:schemeClr val="tx1"/>
                </a:solidFill>
              </a:rPr>
              <a:t>OutputWriter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dirty="0" err="1">
                <a:solidFill>
                  <a:schemeClr val="tx1"/>
                </a:solidFill>
              </a:rPr>
              <a:t>GeoJSON</a:t>
            </a:r>
            <a:endParaRPr lang="en-US" sz="1800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xmlns="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Этапы расчёта </a:t>
            </a:r>
            <a:r>
              <a:rPr lang="en-US" sz="2400" dirty="0" err="1">
                <a:solidFill>
                  <a:schemeClr val="tx1"/>
                </a:solidFill>
              </a:rPr>
              <a:t>HeatRoute</a:t>
            </a:r>
            <a:endParaRPr lang="ru-RU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071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55CFD18-C2A9-4B11-F89E-55CC30F3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xmlns="" id="{91C5D2BC-6C90-11BB-0039-36C63A5E3D1E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D7E5DEA-9589-E805-BFFD-64945E23E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tx1"/>
                </a:solidFill>
              </a:rPr>
              <a:t>От входа до варианта — один проход ядра.</a:t>
            </a: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Точка подключения «входит» в новую сеть через фиксированный участок от границы полигона ОКС — планировщик заранее проверяет, что этот участок свободен и не имеет </a:t>
            </a:r>
            <a:r>
              <a:rPr lang="ru-RU" sz="1600" dirty="0" err="1">
                <a:solidFill>
                  <a:schemeClr val="tx1"/>
                </a:solidFill>
              </a:rPr>
              <a:t>спецпроходов</a:t>
            </a:r>
            <a:r>
              <a:rPr lang="ru-RU" sz="1600" dirty="0">
                <a:solidFill>
                  <a:schemeClr val="tx1"/>
                </a:solidFill>
              </a:rPr>
              <a:t>. Дальше от входа запускается поиск </a:t>
            </a:r>
            <a:r>
              <a:rPr lang="ru-RU" sz="1600" dirty="0" err="1">
                <a:solidFill>
                  <a:schemeClr val="tx1"/>
                </a:solidFill>
              </a:rPr>
              <a:t>Дейкстры</a:t>
            </a:r>
            <a:r>
              <a:rPr lang="ru-RU" sz="1600" dirty="0">
                <a:solidFill>
                  <a:schemeClr val="tx1"/>
                </a:solidFill>
              </a:rPr>
              <a:t> по графу видимости: каждое ребро уже проверено на запреты, отступы, углы и </a:t>
            </a:r>
            <a:r>
              <a:rPr lang="ru-RU" sz="1600" dirty="0" err="1">
                <a:solidFill>
                  <a:schemeClr val="tx1"/>
                </a:solidFill>
              </a:rPr>
              <a:t>спецпроходы</a:t>
            </a:r>
            <a:r>
              <a:rPr lang="ru-RU" sz="1600" dirty="0">
                <a:solidFill>
                  <a:schemeClr val="tx1"/>
                </a:solidFill>
              </a:rPr>
              <a:t>. По ходу поиска планировщик на каждом шаге сравнивает два способа дотянуть точку до сети — врезаться в существующую трубу через камеру или ответвиться от уже построенного участка новой сети. Стоимость считается не по «сырым» метрам, а по показателю S: стоимость проходки с учётом коэффициентов </a:t>
            </a:r>
            <a:r>
              <a:rPr lang="ru-RU" sz="1600" dirty="0" err="1">
                <a:solidFill>
                  <a:schemeClr val="tx1"/>
                </a:solidFill>
              </a:rPr>
              <a:t>спецпроходов</a:t>
            </a:r>
            <a:r>
              <a:rPr lang="ru-RU" sz="1600" dirty="0">
                <a:solidFill>
                  <a:schemeClr val="tx1"/>
                </a:solidFill>
              </a:rPr>
              <a:t> плюс штраф за длину, нормированные на базовые значения. Так жадно собирается лес — набор деревьев Штейнера, каждое со своим местом врезки.</a:t>
            </a:r>
          </a:p>
          <a:p>
            <a:pPr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После жадного построения включается локальное улучшение: точки переносятся в другом порядке, лес перестраивается, вариант принимается, только если S уменьшился. Итог сравнивается с жадным — хуже не станет. Затем подбираются диаметры: минимальный по расходу, ограниченный предельной длиной и невозрастающий к месту присоединения. И только потом — валидация с фактическими ДУ, которая может отбросить вариант целиком.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884393D0-DD3F-6156-D90A-E61A7906B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5C2F5DBE-ADC5-682F-0852-DEAA63D15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14338"/>
            <a:ext cx="5994400" cy="552450"/>
          </a:xfrm>
        </p:spPr>
        <p:txBody>
          <a:bodyPr/>
          <a:lstStyle/>
          <a:p>
            <a:r>
              <a:rPr lang="ru-RU" sz="2000" dirty="0"/>
              <a:t>Как работает планировщик</a:t>
            </a:r>
          </a:p>
        </p:txBody>
      </p:sp>
    </p:spTree>
    <p:extLst>
      <p:ext uri="{BB962C8B-B14F-4D97-AF65-F5344CB8AC3E}">
        <p14:creationId xmlns:p14="http://schemas.microsoft.com/office/powerpoint/2010/main" xmlns="" val="71365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xmlns="" id="{8EE648F1-70BD-354A-6DAE-07E6E3044DC8}"/>
              </a:ext>
            </a:extLst>
          </p:cNvPr>
          <p:cNvSpPr/>
          <p:nvPr/>
        </p:nvSpPr>
        <p:spPr>
          <a:xfrm>
            <a:off x="6096000" y="1522006"/>
            <a:ext cx="558401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xmlns="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558401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4771882" cy="2797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solidFill>
                  <a:schemeClr val="tx1"/>
                </a:solidFill>
              </a:rPr>
              <a:t>Один вход — </a:t>
            </a:r>
            <a:r>
              <a:rPr lang="ru-RU" sz="1800" dirty="0" err="1">
                <a:solidFill>
                  <a:schemeClr val="tx1"/>
                </a:solidFill>
              </a:rPr>
              <a:t>GeoJSON</a:t>
            </a:r>
            <a:r>
              <a:rPr lang="ru-RU" sz="1800" dirty="0">
                <a:solidFill>
                  <a:schemeClr val="tx1"/>
                </a:solidFill>
              </a:rPr>
              <a:t>. Один выход — </a:t>
            </a:r>
            <a:r>
              <a:rPr lang="ru-RU" sz="1800" dirty="0" err="1">
                <a:solidFill>
                  <a:schemeClr val="tx1"/>
                </a:solidFill>
              </a:rPr>
              <a:t>GeoJSON</a:t>
            </a:r>
            <a:r>
              <a:rPr lang="ru-RU" sz="1800" dirty="0">
                <a:solidFill>
                  <a:schemeClr val="tx1"/>
                </a:solidFill>
              </a:rPr>
              <a:t> с готовыми вариантами. Внутри — весь путь: от разбора ограничений и построения графа </a:t>
            </a:r>
            <a:r>
              <a:rPr lang="ru-RU" sz="1800" dirty="0"/>
              <a:t>до подбора диаметров и самопроверки.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09960" y="2373557"/>
            <a:ext cx="4883330" cy="403756"/>
          </a:xfrm>
        </p:spPr>
        <p:txBody>
          <a:bodyPr/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3 варианта · 0 внешних библиотек </a:t>
            </a:r>
          </a:p>
          <a:p>
            <a:pPr algn="ctr"/>
            <a:r>
              <a:rPr lang="ru-RU" sz="1800" dirty="0">
                <a:solidFill>
                  <a:schemeClr val="tx1"/>
                </a:solidFill>
              </a:rPr>
              <a:t> 1 ГБ памяти на город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509960" y="3134070"/>
            <a:ext cx="4883330" cy="2797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solidFill>
                  <a:schemeClr val="tx1"/>
                </a:solidFill>
              </a:rPr>
              <a:t>Детерминированный расчёт на чистом JDK 11, который укладывается в память одного процесса и не требует ни ГИС-движка, ни внешнего роутера.</a:t>
            </a:r>
            <a:br>
              <a:rPr lang="ru-RU" sz="1800" dirty="0">
                <a:solidFill>
                  <a:schemeClr val="tx1"/>
                </a:solidFill>
              </a:rPr>
            </a:b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77917" y="1701094"/>
            <a:ext cx="4934607" cy="42362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5"/>
                </a:solidFill>
              </a:rPr>
              <a:t>Ключевое утверждение</a:t>
            </a:r>
          </a:p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509959" y="1777897"/>
            <a:ext cx="4510137" cy="403756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5"/>
                </a:solidFill>
              </a:rPr>
              <a:t>Ключевая метрика</a:t>
            </a:r>
          </a:p>
          <a:p>
            <a:pPr algn="ctr"/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C671C47-3998-1E61-05E9-97E6B0BB0B63}"/>
              </a:ext>
            </a:extLst>
          </p:cNvPr>
          <p:cNvSpPr txBox="1"/>
          <p:nvPr/>
        </p:nvSpPr>
        <p:spPr>
          <a:xfrm>
            <a:off x="91398" y="2208302"/>
            <a:ext cx="6093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HeatRoute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считает полный цикл, а не отдельную задачу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73911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93B21A0-E37C-A5D0-6D7E-EB7E6E93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60D82CE5-4C20-C528-BCA7-4C42332D32F6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xmlns="" id="{C33EE7F9-ECEF-EF22-E67C-FF1294789B35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xmlns="" id="{0345F355-BDC4-CCEC-D474-FD6460FC32F4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4C92F608-D579-7E9E-F1A0-1564DDC0B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xmlns="" id="{F91C0C31-78C2-C557-49A1-8A62A00A16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sz="1800" dirty="0">
                <a:solidFill>
                  <a:schemeClr val="tx1"/>
                </a:solidFill>
              </a:rPr>
              <a:t>Проектировщик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692896F-9169-6056-8716-EB36920164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загружает </a:t>
            </a:r>
            <a:r>
              <a:rPr lang="ru-RU" sz="1600" dirty="0" err="1">
                <a:solidFill>
                  <a:schemeClr val="tx1"/>
                </a:solidFill>
              </a:rPr>
              <a:t>GeoJSON</a:t>
            </a:r>
            <a:r>
              <a:rPr lang="ru-RU" sz="1600" dirty="0">
                <a:solidFill>
                  <a:schemeClr val="tx1"/>
                </a:solidFill>
              </a:rPr>
              <a:t>, получает готовые варианты трасс с диаметрами, камерами и стоимостью. Экономит дни ручной трассировки.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09425848-5B89-C0DC-1175-F059F13C893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572127" y="2493074"/>
            <a:ext cx="3238597" cy="403756"/>
          </a:xfrm>
        </p:spPr>
        <p:txBody>
          <a:bodyPr/>
          <a:lstStyle/>
          <a:p>
            <a:r>
              <a:rPr lang="ru-RU" sz="1800" dirty="0">
                <a:solidFill>
                  <a:schemeClr val="tx1"/>
                </a:solidFill>
              </a:rPr>
              <a:t>Инженер-теплотехник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E58C212C-CA95-B445-39AD-577D6337EDF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проверяет предельные длины по ДУ, диаметры и число врезок. Видит, где расчёт упёрся в ограничения, и понимает причину.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C9ECF30D-C15B-0A22-0035-D4BE5835F50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sz="1800" dirty="0">
                <a:solidFill>
                  <a:schemeClr val="tx1"/>
                </a:solidFill>
              </a:rPr>
              <a:t>Заказчик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D61AD911-F3B8-A61A-BE16-BAA1E13ACB1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сравнивает варианты по стоимости и длине, выбирает схему подключения и обосновывает решение перед согласующими органами.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3F26E38C-6042-D47C-1A08-BF8FA30B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Сценарии использования </a:t>
            </a:r>
            <a:r>
              <a:rPr lang="ru-RU" dirty="0" err="1">
                <a:solidFill>
                  <a:schemeClr val="accent5"/>
                </a:solidFill>
              </a:rPr>
              <a:t>HeatRoute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914B59CE-611C-FA66-E8E1-0B54EFE6D5D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149C9D3E-91CD-FB38-C505-B91B40E6EA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xmlns="" id="{5FEA5ABC-075C-F5B1-3A7A-9BF0DD1F4CD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273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xmlns="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xmlns="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xmlns="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41141" y="2498243"/>
            <a:ext cx="3244479" cy="42362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Совместное подключение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Все точки собираются в одно дерево Штейнера. Один общий участок большого диаметра обходится дешевле нескольких параллельных веток. Показатель S — самый низкий, длина — средняя. </a:t>
            </a: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Плюс: цена. </a:t>
            </a: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Минус: зависимость всех точек от одной врезки.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572127" y="2493074"/>
            <a:ext cx="3238597" cy="40375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 альтернативными врезками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Та же совместная схема, но места врезок основного варианта запрещены — планировщик ищет другие. S чуть выше, длина близка.</a:t>
            </a: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Плюс: манёвр, когда основная врезка не согласуется. </a:t>
            </a: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Минус: чуть дороже.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468042" y="2521563"/>
            <a:ext cx="3146421" cy="403913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Раздельное подключение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Каждая точка подключается независимо, общие участки запрещены. S самый высокий, длина самая большая. </a:t>
            </a:r>
          </a:p>
          <a:p>
            <a:r>
              <a:rPr lang="ru-RU" dirty="0">
                <a:solidFill>
                  <a:schemeClr val="tx1"/>
                </a:solidFill>
              </a:rPr>
              <a:t>Плюс: устойчивость — падение одной врезки не отключает остальные точки. </a:t>
            </a:r>
          </a:p>
          <a:p>
            <a:r>
              <a:rPr lang="ru-RU" dirty="0">
                <a:solidFill>
                  <a:schemeClr val="tx1"/>
                </a:solidFill>
              </a:rPr>
              <a:t>Минус: дороже и длиннее.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</a:rPr>
              <a:t>Сравнение трёх вариантов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xmlns="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461D620-C63E-2ABC-01D8-771760EA6FDB}"/>
              </a:ext>
            </a:extLst>
          </p:cNvPr>
          <p:cNvSpPr txBox="1"/>
          <p:nvPr/>
        </p:nvSpPr>
        <p:spPr>
          <a:xfrm>
            <a:off x="525816" y="738936"/>
            <a:ext cx="541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Три стратегии — три инженерных ответа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1221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1777FEA-5A26-5EC3-DB62-6DB270DA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xmlns="" id="{60CB7803-4FD5-094D-0025-C6FE4B769F5C}"/>
              </a:ext>
            </a:extLst>
          </p:cNvPr>
          <p:cNvSpPr/>
          <p:nvPr/>
        </p:nvSpPr>
        <p:spPr>
          <a:xfrm>
            <a:off x="346075" y="324562"/>
            <a:ext cx="405250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xmlns="" id="{BC29DFF8-5126-D71E-DAFA-80FB872EE831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xmlns="" id="{D20F97B3-7C1D-7FC1-8A5F-E03EE89307B7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43EB3867-ACD2-F698-54B3-E7FE71B43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EBD986C2-B04E-BB4C-668C-49C64935A50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01301" y="3896550"/>
            <a:ext cx="4929861" cy="14479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Каждое ограничение описывается строкой в </a:t>
            </a:r>
            <a:r>
              <a:rPr lang="ru-RU" sz="1600" dirty="0" err="1">
                <a:solidFill>
                  <a:schemeClr val="tx1"/>
                </a:solidFill>
              </a:rPr>
              <a:t>RuleBook</a:t>
            </a:r>
            <a:r>
              <a:rPr lang="ru-RU" sz="1600" dirty="0">
                <a:solidFill>
                  <a:schemeClr val="tx1"/>
                </a:solidFill>
              </a:rPr>
              <a:t>, и </a:t>
            </a:r>
            <a:r>
              <a:rPr lang="ru-RU" sz="1600" dirty="0" err="1">
                <a:solidFill>
                  <a:schemeClr val="tx1"/>
                </a:solidFill>
              </a:rPr>
              <a:t>Env</a:t>
            </a:r>
            <a:r>
              <a:rPr lang="ru-RU" sz="1600" dirty="0">
                <a:solidFill>
                  <a:schemeClr val="tx1"/>
                </a:solidFill>
              </a:rPr>
              <a:t> для выбранного расчётного ДУ превращает её в набор проверок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D99EB6C4-60E0-552B-D9CF-F69D134C06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4279849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Запрещённые объекты</a:t>
            </a:r>
            <a:r>
              <a:rPr lang="ru-RU" sz="1600" dirty="0">
                <a:solidFill>
                  <a:schemeClr val="tx1"/>
                </a:solidFill>
              </a:rPr>
              <a:t> — парки, вода, ж/д, соцобъекты, сами ОКС. Обход с отступом, зависящим от ДУ.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b="1" dirty="0" err="1">
                <a:solidFill>
                  <a:schemeClr val="tx1"/>
                </a:solidFill>
              </a:rPr>
              <a:t>Спецпроходы</a:t>
            </a:r>
            <a:r>
              <a:rPr lang="ru-RU" sz="1600" dirty="0">
                <a:solidFill>
                  <a:schemeClr val="tx1"/>
                </a:solidFill>
              </a:rPr>
              <a:t> — дороги, трамвайные пути, газопроводы, силовые кабели. Пересечение разрешено, но с коэффициентом удорожания и минимальным углом.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Существующая сеть</a:t>
            </a:r>
            <a:r>
              <a:rPr lang="ru-RU" sz="1600" dirty="0">
                <a:solidFill>
                  <a:schemeClr val="tx1"/>
                </a:solidFill>
              </a:rPr>
              <a:t> — пересечение без врезки тоже считается </a:t>
            </a:r>
            <a:r>
              <a:rPr lang="ru-RU" sz="1600" dirty="0" err="1">
                <a:solidFill>
                  <a:schemeClr val="tx1"/>
                </a:solidFill>
              </a:rPr>
              <a:t>спецпроходом</a:t>
            </a:r>
            <a:r>
              <a:rPr lang="ru-RU" sz="1600" dirty="0">
                <a:solidFill>
                  <a:schemeClr val="tx1"/>
                </a:solidFill>
              </a:rPr>
              <a:t>; врезка возможна только в разрешённых местах.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Камеры</a:t>
            </a:r>
            <a:r>
              <a:rPr lang="ru-RU" sz="1600" dirty="0">
                <a:solidFill>
                  <a:schemeClr val="tx1"/>
                </a:solidFill>
              </a:rPr>
              <a:t> — обязательное использование существующей камеры, если врезка попадает в её радиус 10 м.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Собственная новая сеть</a:t>
            </a:r>
            <a:r>
              <a:rPr lang="ru-RU" sz="1600" dirty="0">
                <a:solidFill>
                  <a:schemeClr val="tx1"/>
                </a:solidFill>
              </a:rPr>
              <a:t> — рост по ходу расчёта, запрет пересечений и минимальный зазор между параллельными участками.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6EBC13A8-56C7-CA26-FB36-73CF01B9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Пять типов ограничений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93952ACA-FFF1-389C-92B3-357C11657BE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04918" y="2077701"/>
            <a:ext cx="5322626" cy="555147"/>
          </a:xfrm>
        </p:spPr>
        <p:txBody>
          <a:bodyPr/>
          <a:lstStyle/>
          <a:p>
            <a:pPr algn="ctr"/>
            <a:r>
              <a:rPr lang="ru-RU" sz="2000" b="1" dirty="0" err="1">
                <a:solidFill>
                  <a:schemeClr val="accent5"/>
                </a:solidFill>
              </a:rPr>
              <a:t>Env</a:t>
            </a:r>
            <a:r>
              <a:rPr lang="ru-RU" sz="2000" b="1" dirty="0">
                <a:solidFill>
                  <a:schemeClr val="accent5"/>
                </a:solidFill>
              </a:rPr>
              <a:t> — единая модель пространственных правил, из которой планировщик читает всё, что ему нужно</a:t>
            </a:r>
            <a:r>
              <a:rPr lang="ru-RU" b="1" dirty="0"/>
              <a:t>.</a:t>
            </a:r>
            <a:endParaRPr lang="ru-RU" sz="20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xmlns="" id="{0DB279D8-842B-C1D6-C2DC-C7CC9B8FD9C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43568" y="1359408"/>
            <a:ext cx="5214724" cy="561519"/>
          </a:xfrm>
        </p:spPr>
        <p:txBody>
          <a:bodyPr/>
          <a:lstStyle/>
          <a:p>
            <a:pPr algn="ctr"/>
            <a:r>
              <a:rPr lang="ru-RU" sz="2000" b="1" dirty="0">
                <a:solidFill>
                  <a:schemeClr val="accent5"/>
                </a:solidFill>
              </a:rPr>
              <a:t>Пять типов ограничений, с которыми работает система:</a:t>
            </a:r>
          </a:p>
        </p:txBody>
      </p:sp>
    </p:spTree>
    <p:extLst>
      <p:ext uri="{BB962C8B-B14F-4D97-AF65-F5344CB8AC3E}">
        <p14:creationId xmlns:p14="http://schemas.microsoft.com/office/powerpoint/2010/main" xmlns="" val="64150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xmlns="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15</a:t>
            </a:fld>
            <a:endParaRPr lang="ru-RU" dirty="0">
              <a:solidFill>
                <a:schemeClr val="accent6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xmlns="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583530905"/>
              </p:ext>
            </p:extLst>
          </p:nvPr>
        </p:nvGraphicFramePr>
        <p:xfrm>
          <a:off x="0" y="1409273"/>
          <a:ext cx="5182146" cy="460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Доли этапов в общей времени расчетов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79F9922-04AC-0DFD-8DBA-814CCE6E9A30}"/>
              </a:ext>
            </a:extLst>
          </p:cNvPr>
          <p:cNvSpPr txBox="1"/>
          <p:nvPr/>
        </p:nvSpPr>
        <p:spPr>
          <a:xfrm>
            <a:off x="5267026" y="1409273"/>
            <a:ext cx="67056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Граф видимости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примерно половина времени.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Планировщик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около четверти.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Чтение и проекция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около 10%.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Модель ограничений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около 10%.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Запись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GeoJSON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оставшиеся проценты.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D8394F1-FB3F-D55B-0CCF-7BB898C5AE25}"/>
              </a:ext>
            </a:extLst>
          </p:cNvPr>
          <p:cNvSpPr txBox="1"/>
          <p:nvPr/>
        </p:nvSpPr>
        <p:spPr>
          <a:xfrm>
            <a:off x="5314787" y="4370543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Вывод: узкое место — геометрия графа, а не сам поиск. Дальнейшая оптимизация — упрощение геометрии на входе и кэширование допустимых рёбер.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9206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xmlns="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страница загрузки: </a:t>
            </a:r>
            <a:r>
              <a:rPr lang="ru-RU" dirty="0" err="1">
                <a:solidFill>
                  <a:schemeClr val="tx1"/>
                </a:solidFill>
              </a:rPr>
              <a:t>drag-and-drop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GeoJSON</a:t>
            </a:r>
            <a:r>
              <a:rPr lang="ru-RU" dirty="0">
                <a:solidFill>
                  <a:schemeClr val="tx1"/>
                </a:solidFill>
              </a:rPr>
              <a:t> до 3 ГБ, кнопка «Запустить расчёт», индикатор статуса QUEUED → RUNNING → DONE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74575" y="4972843"/>
            <a:ext cx="4121687" cy="16122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карточка задачи: идентификатор, время старта и финиша, сводка по вариантам, кнопки «Скачать результат» и «Скачать исходный файл»</a:t>
            </a:r>
          </a:p>
        </p:txBody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xmlns="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7848" y="1197033"/>
            <a:ext cx="4418676" cy="2782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39759" y="941999"/>
            <a:ext cx="1403004" cy="3867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16396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12570</TotalTime>
  <Words>1529</Words>
  <Application>Microsoft Office PowerPoint</Application>
  <PresentationFormat>Произвольный</PresentationFormat>
  <Paragraphs>152</Paragraphs>
  <Slides>16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Для Академия инноваторов 16_9</vt:lpstr>
      <vt:lpstr>GOY_team</vt:lpstr>
      <vt:lpstr>КОМАНДА «GOY_team»</vt:lpstr>
      <vt:lpstr>КОМАНДА «GOY_team»</vt:lpstr>
      <vt:lpstr>КОМАНДА «GOY_team»</vt:lpstr>
      <vt:lpstr>КОРОТКО О РЕШЕНИИ</vt:lpstr>
      <vt:lpstr>Состав проекта</vt:lpstr>
      <vt:lpstr>Архитектура программного комплекса</vt:lpstr>
      <vt:lpstr>Входные данные и ограничения</vt:lpstr>
      <vt:lpstr>Этапы расчёта HeatRoute</vt:lpstr>
      <vt:lpstr>Как работает планировщик</vt:lpstr>
      <vt:lpstr>Слайд 11</vt:lpstr>
      <vt:lpstr>Сценарии использования HeatRoute</vt:lpstr>
      <vt:lpstr>Сравнение трёх вариантов</vt:lpstr>
      <vt:lpstr>Пять типов ограничений</vt:lpstr>
      <vt:lpstr>Доли этапов в общей времени расчетов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Дмитрий</cp:lastModifiedBy>
  <cp:revision>104</cp:revision>
  <dcterms:created xsi:type="dcterms:W3CDTF">2023-05-15T07:36:23Z</dcterms:created>
  <dcterms:modified xsi:type="dcterms:W3CDTF">2026-09-29T20:37:07Z</dcterms:modified>
</cp:coreProperties>
</file>